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212080"/>
          </a:xfrm>
          <a:prstGeom prst="rect">
            <a:avLst/>
          </a:prstGeom>
          <a:solidFill>
            <a:srgbClr val="152A3D"/>
          </a:solidFill>
          <a:ln w="254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98D"/>
                </a:solidFill>
              </a:rPr>
              <a:t>1. Frontend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</a:rPr>
              <a:t>HTML5 / CSS / Vanilla JS
Chart.js • WebSocket Client
REST Fetch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5212080"/>
          </a:xfrm>
          <a:prstGeom prst="rect">
            <a:avLst/>
          </a:prstGeom>
          <a:solidFill>
            <a:srgbClr val="152A3D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2. Backend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</a:rPr>
              <a:t>FastAPI (async Python)
Routers • AI Engine • Security Engine
SQLite DB • WebSocket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657600" cy="5212080"/>
          </a:xfrm>
          <a:prstGeom prst="rect">
            <a:avLst/>
          </a:prstGeom>
          <a:solidFill>
            <a:srgbClr val="152A3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657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3. Hardware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3736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</a:rPr>
              <a:t>Raspberry Pi 5 (4GB)
Built-in Wi-Fi &amp; BLE
USB Dongles: Zigbee / Thread / Z-Wave
RC522 / PN532 RFID Reader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Frontend  ──  HTTP REST + WebSocket  ──  Backend  ──  SQLAlchemy ORM  ──  SQLite  ──  Nmap / Bleak  ── 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Hardware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572000" cy="5212080"/>
          </a:xfrm>
          <a:prstGeom prst="rect">
            <a:avLst/>
          </a:prstGeom>
          <a:solidFill>
            <a:srgbClr val="152A3D"/>
          </a:solidFill>
          <a:ln w="254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98D"/>
                </a:solidFill>
              </a:rPr>
              <a:t>🍓  Central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</a:rPr>
              <a:t>Raspberry Pi 5 — 4 GB RAM
Quad-core ARM Cortex-A76
Runs FastAPI + AI Engine + Docker
OS: Raspberry Pi OS (64-bit)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91840"/>
            <a:ext cx="42976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8D"/>
                </a:solidFill>
              </a:rPr>
              <a:t>⚡  Power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8"/>
                </a:solidFill>
              </a:rPr>
              <a:t>5V / 5A USB-C — stable voltage for all dongles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188720"/>
            <a:ext cx="6583680" cy="100584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📡  Zigbee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5727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Sonoff CC2652P USB Dongle Plus
Zigbee 3.0 — Mesh network auditing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267712"/>
            <a:ext cx="6583680" cy="100584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313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🧵  Thread/Matter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651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Nordic nRF52840 Dongle
IPv6 smart-home protocol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346704"/>
            <a:ext cx="6583680" cy="100584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39242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🏠  Z-Wave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73075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Aeotec Z-Stick 7 (Z-Wave Plus)
Legacy residential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425696"/>
            <a:ext cx="6583680" cy="100584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44714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📶  LoRaWAN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80974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Dragino USB LoRa Adapter
Long-range enterprise networks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5504688"/>
            <a:ext cx="6583680" cy="100584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5550407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🔐  RFID/NFC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88873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RC522 / PN532 SPI-I2C
MIFARE Classic &amp; NFC auditing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Software Architecture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8D"/>
                </a:solidFill>
              </a:rPr>
              <a:t>FastAPI Application (async Python)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200400" cy="489204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main.py — App Entry Point
CORS • DB Init • Router Mount • /ws 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9260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websocket_manager.py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Global broadcast server
Real-time push to all clients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29260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ai_engine.py + security_engine.py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Heuristic analysis • risk scoring
Remediation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29260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database.py (SQLAlchemy + SQLite)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ORM models: Device, Vulnerability,
RFIDCard, RFIDScanReport, Setting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1143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8D"/>
                </a:solidFill>
              </a:rPr>
              <a:t>Modular Router Architecture  (routers/)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1508760"/>
            <a:ext cx="3749039" cy="160020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16002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iot.py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20116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Network discovery • multi-protocol scans
(Wi-Fi, Zigbee, Thread, Z-Wave, LoRaWAN)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508760"/>
            <a:ext cx="3749039" cy="160020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16002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wifi_bt.py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0116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Wi-Fi deep port scan • credential attacks
BLE audit • deauth module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3200400"/>
            <a:ext cx="3749039" cy="160020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3291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access_control.py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37033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RFID reader control • attack simulation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200400"/>
            <a:ext cx="3749039" cy="160020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3291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ai.py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370332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AI heuristics API • risk scoring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892040"/>
            <a:ext cx="3749039" cy="160020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0208" y="498347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reports.py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539495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PDF audit report generation (ReportLab)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4892040"/>
            <a:ext cx="3749039" cy="160020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498347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virtual_lab.py /
attack_scenarios.py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9495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Docker lab orchestration • training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Database Design (ERD)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926080" cy="3063240"/>
          </a:xfrm>
          <a:prstGeom prst="rect">
            <a:avLst/>
          </a:prstGeom>
          <a:solidFill>
            <a:srgbClr val="152A3D"/>
          </a:solidFill>
          <a:ln w="254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8D"/>
                </a:solidFill>
              </a:rPr>
              <a:t>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id (PK)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ip  UNIQUE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3113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hostname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7802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vendor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249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os_guess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1868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risk_level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risk_score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1246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open_ports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5935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last_seen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143000"/>
            <a:ext cx="2926080" cy="2075688"/>
          </a:xfrm>
          <a:prstGeom prst="rect">
            <a:avLst/>
          </a:prstGeom>
          <a:solidFill>
            <a:srgbClr val="152A3D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id (PK)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173736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device_id (FK → devices)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8424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vuln_type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23113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47802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7249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971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protocol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143000"/>
            <a:ext cx="2926080" cy="2816352"/>
          </a:xfrm>
          <a:prstGeom prst="rect">
            <a:avLst/>
          </a:prstGeom>
          <a:solidFill>
            <a:srgbClr val="152A3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59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rfid_cards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id (PK)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73736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uid  UNIQUE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98424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card_type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23113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encryption_type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47802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auth_mode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7249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replay_protection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971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tag_integrity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21868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risk_level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46557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risk_score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71246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last_seen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3931920"/>
            <a:ext cx="2926080" cy="2075688"/>
          </a:xfrm>
          <a:prstGeom prst="rect">
            <a:avLst/>
          </a:prstGeom>
          <a:solidFill>
            <a:srgbClr val="152A3D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59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</a:rPr>
              <a:t>rfid_scan_reports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7939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id (PK)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526279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uid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7731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attack_type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02005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attack_result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26694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remediation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513831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simulation_status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76072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timestamp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029200"/>
            <a:ext cx="2926080" cy="841248"/>
          </a:xfrm>
          <a:prstGeom prst="rect">
            <a:avLst/>
          </a:prstGeom>
          <a:solidFill>
            <a:srgbClr val="152A3D"/>
          </a:solidFill>
          <a:ln w="254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C4D8"/>
                </a:solidFill>
              </a:rPr>
              <a:t>settings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766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key (PK)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2356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value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2286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98D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8D"/>
                </a:solidFill>
              </a:rPr>
              <a:t>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8"/>
                </a:solidFill>
              </a:rPr>
              <a:t>SQLite — serverless, zero-config, optimized for read-heavy flash storage on Raspberry Pi microSD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Engine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508760" cy="530352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98D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13258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3736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Feature
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1460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Ports • vendor
protocol • hostname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74903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8D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1188720"/>
            <a:ext cx="1508760" cy="530352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1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98D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9112" y="1664208"/>
            <a:ext cx="13258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1" y="173736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Signature
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1" y="251460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VULNERABILITY_PATTERNS
Camera / Router / PLC / Medical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3" y="374903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8D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1024" y="1188720"/>
            <a:ext cx="1508760" cy="530352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98D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2463" y="1664208"/>
            <a:ext cx="13258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6744" y="173736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Vulnerability
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51460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OPEN_TELNET → port 23
ZIGBEE_DEFAULT_KEY → Zigbee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74903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8D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94376" y="1188720"/>
            <a:ext cx="1508760" cy="530352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98D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85816" y="1664208"/>
            <a:ext cx="13258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173736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Anomaly
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0096" y="251460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Unusual ports
Unknown vendor fingerprint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74903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8D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67728" y="1188720"/>
            <a:ext cx="1508760" cy="530352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98D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1664208"/>
            <a:ext cx="13258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3448" y="173736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Risk Score
(0–100)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251460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Weighted: ports + CVEs
+ credentials + TLS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74903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8D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188720"/>
            <a:ext cx="1508760" cy="530352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98D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1664208"/>
            <a:ext cx="13258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173736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Remediation
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51460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Step-by-step fix from
REMEDIATION_DATABASE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374903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98D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14432" y="1188720"/>
            <a:ext cx="1508760" cy="5303520"/>
          </a:xfrm>
          <a:prstGeom prst="rect">
            <a:avLst/>
          </a:prstGeom>
          <a:solidFill>
            <a:srgbClr val="152A3D"/>
          </a:solidFill>
          <a:ln w="127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60152" y="12344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98D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05872" y="1664208"/>
            <a:ext cx="132588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60152" y="173736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Dynamic
Narrative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0152" y="251460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</a:rPr>
              <a:t>AI summary string
with confidence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8"/>
                </a:solidFill>
              </a:rPr>
              <a:t>No TensorFlow / PyTorch — runs entirely on Raspberry Pi CPU using statistical heuristics &amp; rule databases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API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98D"/>
                </a:solidFill>
              </a:rPr>
              <a:t>REST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914400" cy="347472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481328"/>
            <a:ext cx="2560320" cy="347472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52704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481328"/>
            <a:ext cx="3200400" cy="347472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5270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914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47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1874519"/>
            <a:ext cx="256032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19476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/networks/discover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874519"/>
            <a:ext cx="3200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List active network interfaces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58568"/>
            <a:ext cx="914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331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2258568"/>
            <a:ext cx="256032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3312" y="23317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/scan/wifi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2258568"/>
            <a:ext cx="3200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Launch Nmap Wi-Fi discovery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42615"/>
            <a:ext cx="914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715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POST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2642615"/>
            <a:ext cx="256032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3312" y="271576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/scan/zigbee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2642615"/>
            <a:ext cx="3200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3632" y="27157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Scan Zigbee coordinator nodes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26663"/>
            <a:ext cx="914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09981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POST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3026663"/>
            <a:ext cx="256032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3312" y="3099815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/scan/bluetooth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3026663"/>
            <a:ext cx="3200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3632" y="309981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Run Bleak BLE discovery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10711"/>
            <a:ext cx="914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48386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3410711"/>
            <a:ext cx="256032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53312" y="3483863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/devices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410711"/>
            <a:ext cx="3200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48386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Retrieve all discovered hosts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794760"/>
            <a:ext cx="914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38679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3794760"/>
            <a:ext cx="256032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53312" y="386791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/analyze/device/{id}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3794760"/>
            <a:ext cx="3200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13632" y="3867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AI deep analysis &amp; remediations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178808"/>
            <a:ext cx="914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251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POST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4178808"/>
            <a:ext cx="256032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53312" y="42519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/attack/simulate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4178808"/>
            <a:ext cx="3200400" cy="384048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4251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Trigger access control simulation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562856"/>
            <a:ext cx="914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6360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GET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4562856"/>
            <a:ext cx="256032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53312" y="463600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</a:rPr>
              <a:t>/generate/pdf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80" y="4562856"/>
            <a:ext cx="3200400" cy="384048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13632" y="4636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Compile PDF audit report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10972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WebSocket  /ws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1481328"/>
            <a:ext cx="4297680" cy="109728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26679" y="15544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heartbeat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79" y="193852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Keep-alive ping every 10 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2670048"/>
            <a:ext cx="4297680" cy="109728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26679" y="27432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settings_updated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79" y="312724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Broadcast config changes to all clients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3858768"/>
            <a:ext cx="4297680" cy="1097280"/>
          </a:xfrm>
          <a:prstGeom prst="rect">
            <a:avLst/>
          </a:prstGeom>
          <a:solidFill>
            <a:srgbClr val="152A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26679" y="39319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scan_update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6679" y="431596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8"/>
                </a:solidFill>
              </a:rPr>
              <a:t>Live Nmap/Bleak terminal stream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98D"/>
                </a:solidFill>
              </a:rPr>
              <a:t>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Sequence Diagram — Full Scan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371600" cy="640080"/>
          </a:xfrm>
          <a:prstGeom prst="rect">
            <a:avLst/>
          </a:prstGeom>
          <a:solidFill>
            <a:srgbClr val="152A3D"/>
          </a:solidFill>
          <a:ln w="254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98D"/>
                </a:solidFill>
              </a:rPr>
              <a:t>Security
Analyst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783080"/>
            <a:ext cx="54864" cy="493776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143000"/>
            <a:ext cx="1371600" cy="640080"/>
          </a:xfrm>
          <a:prstGeom prst="rect">
            <a:avLst/>
          </a:prstGeom>
          <a:solidFill>
            <a:srgbClr val="152A3D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188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</a:rPr>
              <a:t>Web
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783080"/>
            <a:ext cx="54864" cy="493776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143000"/>
            <a:ext cx="1371600" cy="640080"/>
          </a:xfrm>
          <a:prstGeom prst="rect">
            <a:avLst/>
          </a:prstGeom>
          <a:solidFill>
            <a:srgbClr val="152A3D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1188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</a:rPr>
              <a:t>FastAPI
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7" y="1783080"/>
            <a:ext cx="54864" cy="493776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143000"/>
            <a:ext cx="1371600" cy="640080"/>
          </a:xfrm>
          <a:prstGeom prst="rect">
            <a:avLst/>
          </a:prstGeom>
          <a:solidFill>
            <a:srgbClr val="152A3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188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Scan
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4864" cy="493776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1143000"/>
            <a:ext cx="1371600" cy="640080"/>
          </a:xfrm>
          <a:prstGeom prst="rect">
            <a:avLst/>
          </a:prstGeom>
          <a:solidFill>
            <a:srgbClr val="152A3D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188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C4899"/>
                </a:solidFill>
              </a:rPr>
              <a:t>AI Engine
ai_engine.py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1783080"/>
            <a:ext cx="54864" cy="493776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49840" y="1143000"/>
            <a:ext cx="1371600" cy="640080"/>
          </a:xfrm>
          <a:prstGeom prst="rect">
            <a:avLst/>
          </a:prstGeom>
          <a:solidFill>
            <a:srgbClr val="152A3D"/>
          </a:solidFill>
          <a:ln w="254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188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0C4D8"/>
                </a:solidFill>
              </a:rPr>
              <a:t>SQLite
pentex.db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8208" y="1783080"/>
            <a:ext cx="54864" cy="4937760"/>
          </a:xfrm>
          <a:prstGeom prst="rect">
            <a:avLst/>
          </a:prstGeom>
          <a:solidFill>
            <a:srgbClr val="25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1965960"/>
            <a:ext cx="1737360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16916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C98D"/>
                </a:solidFill>
              </a:rPr>
              <a:t>Click "Start Scan"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331720"/>
            <a:ext cx="1737359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057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8BDF8"/>
                </a:solidFill>
              </a:rPr>
              <a:t>POST /scan/wifi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697480"/>
            <a:ext cx="17373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9E0B"/>
                </a:solidFill>
              </a:rPr>
              <a:t>Start Nmap thread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063240"/>
            <a:ext cx="4663440" cy="3657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788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8"/>
                </a:solidFill>
              </a:rPr>
              <a:t>Insert discovered devices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429000"/>
            <a:ext cx="34747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3154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8BDF8"/>
                </a:solidFill>
              </a:rPr>
              <a:t>WebSocket: "scan_update"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3886200"/>
            <a:ext cx="34747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611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4899"/>
                </a:solidFill>
              </a:rPr>
              <a:t>analyze_device(data)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4251960"/>
            <a:ext cx="34747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3977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C4899"/>
                </a:solidFill>
              </a:rPr>
              <a:t>Return risk score + remediations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4663440"/>
            <a:ext cx="6400800" cy="3657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4389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8"/>
                </a:solidFill>
              </a:rPr>
              <a:t>Update device scores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5029200"/>
            <a:ext cx="1737359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4754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8BDF8"/>
                </a:solidFill>
              </a:rPr>
              <a:t>GET /generate/pdf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5394960"/>
            <a:ext cx="6400800" cy="3657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5120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8"/>
                </a:solidFill>
              </a:rPr>
              <a:t>Fetch audit statistics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5760720"/>
            <a:ext cx="1737359" cy="36576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5486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C98D"/>
                </a:solidFill>
              </a:rPr>
              <a:t>Return PDF download 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